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1" r:id="rId5"/>
    <p:sldId id="260" r:id="rId6"/>
    <p:sldId id="263" r:id="rId7"/>
    <p:sldId id="266" r:id="rId8"/>
    <p:sldId id="267" r:id="rId9"/>
    <p:sldId id="268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5C0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1267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[SPEAKER 1 — Alhussein Aly Ayad | Slide 1: Title]</a:t>
            </a:r>
          </a:p>
          <a:p>
            <a:r>
              <a:rPr lang="en-US" dirty="0"/>
              <a:t>Good morning everyone. Our project is the Car Anti-Theft System — a multi-layered embedded security solution built on the STM32F401 microcontroller, powered by FreeRTOS, and extended with GPS, GSM, and an ESP32 web interface.</a:t>
            </a:r>
          </a:p>
          <a:p>
            <a:r>
              <a:rPr lang="en-US" dirty="0"/>
              <a:t>My name is Alhussein, and together with my teammate Shapinam, we'll start by covering the problem and our solution concept.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[SPEAKER 1 — Alhussein Aly Ayad | Slide 2: Problem Statement]</a:t>
            </a:r>
          </a:p>
          <a:p>
            <a:r>
              <a:rPr lang="en-US" dirty="0"/>
              <a:t>Standard car security systems have four critical failures:</a:t>
            </a:r>
          </a:p>
          <a:p>
            <a:r>
              <a:rPr lang="en-US" dirty="0"/>
              <a:t>First — Distance Limitations: local alarms are easily ignored and owners far away get no notification.</a:t>
            </a:r>
          </a:p>
          <a:p>
            <a:r>
              <a:rPr lang="en-US" dirty="0"/>
              <a:t>Second — No Real-Time Alerts: break-ins or unauthorized access happen without the owner knowing.</a:t>
            </a:r>
          </a:p>
          <a:p>
            <a:r>
              <a:rPr lang="en-US" dirty="0"/>
              <a:t>Third — No Tracking: once a vehicle is stolen, there is no way to locate it without an embedded GPS.</a:t>
            </a:r>
          </a:p>
          <a:p>
            <a:r>
              <a:rPr lang="en-US" dirty="0"/>
              <a:t>Fourth — Internet Dependency: smart car apps completely fail in network dead zones.</a:t>
            </a:r>
          </a:p>
          <a:p>
            <a:r>
              <a:rPr lang="en-US" dirty="0"/>
              <a:t>These four gaps are exactly what our system is designed to solve.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[SPEAKER 1 — Alhussein Aly Ayad | Slide 3: Solution Overview]</a:t>
            </a:r>
          </a:p>
          <a:p>
            <a:r>
              <a:rPr lang="en-US" dirty="0"/>
              <a:t>Our solution is a multi-layered embedded security system with two independent communication channels — GSM for offline SMS alerts and ESP32 for remote web access.</a:t>
            </a:r>
          </a:p>
          <a:p>
            <a:r>
              <a:rPr lang="en-US" dirty="0"/>
              <a:t>The six pillars are:</a:t>
            </a:r>
          </a:p>
          <a:p>
            <a:r>
              <a:rPr lang="en-US" dirty="0"/>
              <a:t>1. STM32 + FreeRTOS as the real-time processing core</a:t>
            </a:r>
          </a:p>
          <a:p>
            <a:r>
              <a:rPr lang="en-US" dirty="0"/>
              <a:t>2. RFID for key-based access control</a:t>
            </a:r>
          </a:p>
          <a:p>
            <a:r>
              <a:rPr lang="en-US" dirty="0"/>
              <a:t>3. A multi-sensor alarm using reed switch, vibration sensor, buzzer, and LED</a:t>
            </a:r>
          </a:p>
          <a:p>
            <a:r>
              <a:rPr lang="en-US" dirty="0"/>
              <a:t>4. GPS for live coordinate tracking</a:t>
            </a:r>
          </a:p>
          <a:p>
            <a:r>
              <a:rPr lang="en-US" dirty="0"/>
              <a:t>5. GSM for offline SMS alerts that work without internet</a:t>
            </a:r>
          </a:p>
          <a:p>
            <a:r>
              <a:rPr lang="en-US" dirty="0"/>
              <a:t>6. And an ESP32 web dashboard for remote monitoring from any device</a:t>
            </a:r>
          </a:p>
          <a:p>
            <a:r>
              <a:rPr lang="en-US" dirty="0"/>
              <a:t>I'll now hand over to Shapinam to explain the hardware specifications.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[SPEAKER 3 — Seif-El Din Tarek Ismail | Slide 6: System Architecture]</a:t>
            </a:r>
          </a:p>
          <a:p>
            <a:r>
              <a:rPr lang="en-US" dirty="0"/>
              <a:t>Here is the complete system architecture.</a:t>
            </a:r>
          </a:p>
          <a:p>
            <a:r>
              <a:rPr lang="en-US" dirty="0"/>
              <a:t>The STM32F401 with FreeRTOS is the central controller. It interfaces directly with:</a:t>
            </a:r>
          </a:p>
          <a:p>
            <a:r>
              <a:rPr lang="en-US" dirty="0"/>
              <a:t>- RFID MFRC522 for access</a:t>
            </a:r>
          </a:p>
          <a:p>
            <a:r>
              <a:rPr lang="en-US" dirty="0"/>
              <a:t>- Reed switch for door monitoring</a:t>
            </a:r>
          </a:p>
          <a:p>
            <a:r>
              <a:rPr lang="en-US" dirty="0"/>
              <a:t>- Vibration sensor for perimeter security</a:t>
            </a:r>
          </a:p>
          <a:p>
            <a:r>
              <a:rPr lang="en-US" dirty="0"/>
              <a:t>- H-Bridge and DC motor for engine control</a:t>
            </a:r>
          </a:p>
          <a:p>
            <a:r>
              <a:rPr lang="en-US" dirty="0"/>
              <a:t>- Buzzer and LEDs for the alarm</a:t>
            </a:r>
          </a:p>
          <a:p>
            <a:r>
              <a:rPr lang="en-US" dirty="0"/>
              <a:t>- GPS and GSM modules via UART</a:t>
            </a:r>
          </a:p>
          <a:p>
            <a:r>
              <a:rPr lang="en-US" dirty="0"/>
              <a:t>- And the 16x2 I2C LCD for local status display</a:t>
            </a:r>
          </a:p>
          <a:p>
            <a:r>
              <a:rPr lang="en-US" dirty="0"/>
              <a:t>The ESP32 sits alongside and independently hosts the remote web interface.</a:t>
            </a:r>
          </a:p>
          <a:p>
            <a:r>
              <a:rPr lang="en-US" dirty="0"/>
              <a:t>I'll now hand over to Mohamed to explain the firmware logic and connectivity.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[SPEAKER 5 — Hanya Essam Abdelfattah | Slide 10: Project Journey]</a:t>
            </a:r>
          </a:p>
          <a:p>
            <a:r>
              <a:rPr lang="en-US" dirty="0"/>
              <a:t>Our project went through six structured phases:</a:t>
            </a:r>
          </a:p>
          <a:p>
            <a:r>
              <a:rPr lang="en-US" dirty="0"/>
              <a:t>Phase 1 — Requirements &amp; Design: component list, block diagram, GPIO mapping, and communication scenarios.</a:t>
            </a:r>
          </a:p>
          <a:p>
            <a:r>
              <a:rPr lang="en-US" dirty="0"/>
              <a:t>Phase 2 — Hardware Assembly: wired and tested all sensors and actuators on a breadboard.</a:t>
            </a:r>
          </a:p>
          <a:p>
            <a:r>
              <a:rPr lang="en-US" dirty="0"/>
              <a:t>Phase 3 — FreeRTOS Firmware: concurrent tasks for RFID, sensors, GPS/GSM, and the LCD.</a:t>
            </a:r>
          </a:p>
          <a:p>
            <a:r>
              <a:rPr lang="en-US" dirty="0"/>
              <a:t>Phase 4 — ESP32 Web Interface: HTML dashboard deployed with a public URL.</a:t>
            </a:r>
          </a:p>
          <a:p>
            <a:r>
              <a:rPr lang="en-US" dirty="0"/>
              <a:t>Phase 5 — Integration &amp; Testing: full end-to-end scenario testing covering authentication, alarm, GPS, and SMS.</a:t>
            </a:r>
          </a:p>
          <a:p>
            <a:r>
              <a:rPr lang="en-US" dirty="0"/>
              <a:t>Phase 6 — Final Demo &amp; Report: live car maquet demonstration, GitHub repository, and complete documentation.</a:t>
            </a:r>
          </a:p>
          <a:p>
            <a:r>
              <a:rPr lang="en-US" dirty="0"/>
              <a:t>Thank you for following our journey.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[SPEAKER 2 — Shapinam Abdelfattah Hassan | Slide 4: Core Hardware &amp; Specs]</a:t>
            </a:r>
          </a:p>
          <a:p>
            <a:r>
              <a:rPr lang="en-US" dirty="0"/>
              <a:t>My name is Shapinam, and I'll cover the hardware foundation of our system.</a:t>
            </a:r>
          </a:p>
          <a:p>
            <a:r>
              <a:rPr lang="en-US" dirty="0"/>
              <a:t>The brain is the STM32F401 Black Pill running at 84 MHz, supported by FreeRTOS for concurrent task execution.</a:t>
            </a:r>
          </a:p>
          <a:p>
            <a:r>
              <a:rPr lang="en-US" dirty="0"/>
              <a:t>Key interfaces include: RFID via SPI, GPS and GSM via UART, and the LCD via I2C.</a:t>
            </a:r>
          </a:p>
          <a:p>
            <a:r>
              <a:rPr lang="en-US" dirty="0"/>
              <a:t>The H-Bridge accepts 12V input and drives a 5V DC motor for engine simulation.</a:t>
            </a:r>
          </a:p>
          <a:p>
            <a:r>
              <a:rPr lang="en-US" dirty="0"/>
              <a:t>Power is stepped down from 12V DC to 5V and 3.3V to supply all components.</a:t>
            </a:r>
          </a:p>
          <a:p>
            <a:r>
              <a:rPr lang="en-US" dirty="0"/>
              <a:t>I'll now hand to Seif to explain how the physical security layer is built.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[SPEAKER 3 — Seif-El Din Tarek Ismail | Slide 5: Physical Security Perimeter]</a:t>
            </a:r>
          </a:p>
          <a:p>
            <a:r>
              <a:rPr lang="en-US" dirty="0"/>
              <a:t>My name is Seif, and I'll walk you through the physical security layer.</a:t>
            </a:r>
          </a:p>
          <a:p>
            <a:r>
              <a:rPr lang="en-US" dirty="0"/>
              <a:t>The MFRC522 RFID scanner via SPI handles access control — authorized cards grant entry, unauthorized ones immediately trigger the alarm.</a:t>
            </a:r>
          </a:p>
          <a:p>
            <a:r>
              <a:rPr lang="en-US" dirty="0"/>
              <a:t>A magnetic reed switch on the door detects any unauthorized opening attempt.</a:t>
            </a:r>
          </a:p>
          <a:p>
            <a:r>
              <a:rPr lang="en-US" dirty="0"/>
              <a:t>The SW-420 vibration sensor covers window-break and forced-entry scenarios, extending the perimeter beyond the door.</a:t>
            </a:r>
          </a:p>
          <a:p>
            <a:r>
              <a:rPr lang="en-US" dirty="0"/>
              <a:t>Finally, an active buzzer and LED provide instant audible and visual alerts on any breach.</a:t>
            </a:r>
          </a:p>
          <a:p>
            <a:r>
              <a:rPr lang="en-US" dirty="0"/>
              <a:t>Next I'll show you how all of these components connect in the system architecture.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[SPEAKER 4 — Mohamed Tamer Taimor | Slide 7: FreeRTOS Firmware &amp; Engine Control]</a:t>
            </a:r>
          </a:p>
          <a:p>
            <a:r>
              <a:rPr lang="en-US" dirty="0"/>
              <a:t>My name is Mohamed, and I'll cover the firmware layer on the STM32.</a:t>
            </a:r>
          </a:p>
          <a:p>
            <a:r>
              <a:rPr lang="en-US" dirty="0"/>
              <a:t>FreeRTOS enables fully concurrent task scheduling — RFID, sensors, GPS/GSM, and LCD tasks all run simultaneously without any blocking.</a:t>
            </a:r>
          </a:p>
          <a:p>
            <a:r>
              <a:rPr lang="en-US" dirty="0"/>
              <a:t>For authorization: an authorized RFID card grants access normally; an unauthorized card instantly triggers the alarm.</a:t>
            </a:r>
          </a:p>
          <a:p>
            <a:r>
              <a:rPr lang="en-US" dirty="0"/>
              <a:t>Engine control uses a push button that activates the H-Bridge to start the DC motor — this is only possible after a successful RFID authorization.</a:t>
            </a:r>
          </a:p>
          <a:p>
            <a:r>
              <a:rPr lang="en-US" dirty="0"/>
              <a:t>The 16x2 I2C LCD provides live state feedback showing Armed, Disarmed, Alarm Active, and Engine On states.</a:t>
            </a:r>
          </a:p>
          <a:p>
            <a:r>
              <a:rPr lang="en-US" dirty="0"/>
              <a:t>Next I'll cover the connectivity layer.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[SPEAKER 4 — Mohamed Tamer Taimor | Slide 8: Connectivity: GPS, GSM &amp; ESP32 Dashboard]</a:t>
            </a:r>
          </a:p>
          <a:p>
            <a:r>
              <a:rPr lang="en-US" dirty="0"/>
              <a:t>The connectivity layer has two independent channels, which is what makes this system robust.</a:t>
            </a:r>
          </a:p>
          <a:p>
            <a:r>
              <a:rPr lang="en-US" dirty="0"/>
              <a:t>The NEO-6M GPS module retrieves live vehicle coordinates over UART — this works entirely offline.</a:t>
            </a:r>
          </a:p>
          <a:p>
            <a:r>
              <a:rPr lang="en-US" dirty="0"/>
              <a:t>The SIM800L GSM module sends real-time SMS alerts directly to the owner's phone via UART — no Wi-Fi, no mobile data app required.</a:t>
            </a:r>
          </a:p>
          <a:p>
            <a:r>
              <a:rPr lang="en-US" dirty="0"/>
              <a:t>The ESP32 hosts an HTML dashboard accessible from any network via a public URL — allowing the owner to arm or disarm the system and view GPS coordinates remotely.</a:t>
            </a:r>
          </a:p>
          <a:p>
            <a:r>
              <a:rPr lang="en-US" dirty="0"/>
              <a:t>This dual-channel design ensures the owner is always reachable: GSM handles emergency alerts offline, ESP32 handles full remote control when internet is available.</a:t>
            </a:r>
          </a:p>
          <a:p>
            <a:r>
              <a:rPr lang="en-US" dirty="0"/>
              <a:t>I'll now hand over to Hanya to present our results.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[SPEAKER 5 — Hanya Essam Abdelfattah | Slide 9: Achievements &amp; Results]</a:t>
            </a:r>
          </a:p>
          <a:p>
            <a:r>
              <a:rPr lang="en-US" dirty="0"/>
              <a:t>My name is Hanya, and I'm proud to present our final results.</a:t>
            </a:r>
          </a:p>
          <a:p>
            <a:r>
              <a:rPr lang="en-US" dirty="0"/>
              <a:t>RFID access control is fully working — authorized and unauthorized cards are reliably distinguished.</a:t>
            </a:r>
          </a:p>
          <a:p>
            <a:r>
              <a:rPr lang="en-US" dirty="0"/>
              <a:t>FreeRTOS keeps all modules running concurrently without any blocking.</a:t>
            </a:r>
          </a:p>
          <a:p>
            <a:r>
              <a:rPr lang="en-US" dirty="0"/>
              <a:t>Vibration and reed switch alarms respond in under 200 milliseconds.</a:t>
            </a:r>
          </a:p>
          <a:p>
            <a:r>
              <a:rPr lang="en-US" dirty="0"/>
              <a:t>Real-time GPS coordinates are retrieved and forwarded to the owner's phone via SMS.</a:t>
            </a:r>
          </a:p>
          <a:p>
            <a:r>
              <a:rPr lang="en-US" dirty="0"/>
              <a:t>The ESP32 dashboard is live on a public URL — arm, disarm, and GPS view work from any device.</a:t>
            </a:r>
          </a:p>
          <a:p>
            <a:r>
              <a:rPr lang="en-US" dirty="0"/>
              <a:t>The LCD correctly reflects all system state transitions.</a:t>
            </a:r>
          </a:p>
          <a:p>
            <a:r>
              <a:rPr lang="en-US" dirty="0"/>
              <a:t>Most importantly, we completed a full integration test cycle: Door breach detected → Alarm triggered → SMS alert sent → Remote disarm via the ESP32 dashboard.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[ALL SPEAKERS]</a:t>
            </a:r>
          </a:p>
          <a:p>
            <a:r>
              <a:rPr lang="en-US" dirty="0"/>
              <a:t>Thank you for your attention.</a:t>
            </a:r>
          </a:p>
          <a:p>
            <a:r>
              <a:rPr lang="en-US" dirty="0"/>
              <a:t>Our Car Anti-Theft System demonstrates a complete, real-world multi-layered embedded security solution integrating hardware, real-time firmware, and IoT connectivity.</a:t>
            </a:r>
          </a:p>
          <a:p>
            <a:r>
              <a:rPr lang="en-US" dirty="0"/>
              <a:t>We are happy to take any questions. Thank you to our supervisor, Dr. Amr Fahmy, for his guidance throughout this project.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0FBB38FB-3E43-C01A-056F-942B61B31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832" y="1144336"/>
            <a:ext cx="3344398" cy="33443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1920" y="1010756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Anti-Theft System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74320" y="191372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+ FreeRTOS | IoT Security Solution</a:t>
            </a:r>
            <a:endParaRPr lang="en-US" sz="1800" dirty="0">
              <a:solidFill>
                <a:srgbClr val="002060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27432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D26325-B50C-C1A1-380F-8E189F0D8A99}"/>
              </a:ext>
            </a:extLst>
          </p:cNvPr>
          <p:cNvSpPr txBox="1"/>
          <p:nvPr/>
        </p:nvSpPr>
        <p:spPr>
          <a:xfrm>
            <a:off x="274320" y="2491740"/>
            <a:ext cx="47320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Team Members:</a:t>
            </a:r>
          </a:p>
          <a:p>
            <a:r>
              <a:rPr lang="en-US" dirty="0">
                <a:solidFill>
                  <a:srgbClr val="002060"/>
                </a:solidFill>
              </a:rPr>
              <a:t>Alhussein Aly Ayad 	                   221004147 </a:t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dirty="0">
                <a:solidFill>
                  <a:srgbClr val="002060"/>
                </a:solidFill>
              </a:rPr>
              <a:t>Shapinam Abdelfattah Hassan 221004292 </a:t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dirty="0">
                <a:solidFill>
                  <a:srgbClr val="002060"/>
                </a:solidFill>
              </a:rPr>
              <a:t>Seif-El din Tarek Ismail              221006919 Mohamed Tamer Taimor          221004807 </a:t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dirty="0">
                <a:solidFill>
                  <a:srgbClr val="002060"/>
                </a:solidFill>
              </a:rPr>
              <a:t>Hanya Essam Abdelfattah         221006161 </a:t>
            </a:r>
            <a:r>
              <a:rPr lang="en-US" b="1" dirty="0">
                <a:solidFill>
                  <a:srgbClr val="002060"/>
                </a:solidFill>
              </a:rPr>
              <a:t>Supervisor : </a:t>
            </a:r>
            <a:r>
              <a:rPr lang="en-US" dirty="0">
                <a:solidFill>
                  <a:srgbClr val="002060"/>
                </a:solidFill>
              </a:rPr>
              <a:t>Dr Amr Fahmy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3A8FAEE-393B-BCF7-F5D3-CECD27C903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6570" y="346710"/>
            <a:ext cx="2297430" cy="2297430"/>
          </a:xfrm>
          <a:prstGeom prst="rect">
            <a:avLst/>
          </a:prstGeom>
        </p:spPr>
      </p:pic>
      <p:sp>
        <p:nvSpPr>
          <p:cNvPr id="23" name="Shape 2">
            <a:extLst>
              <a:ext uri="{FF2B5EF4-FFF2-40B4-BE49-F238E27FC236}">
                <a16:creationId xmlns:a16="http://schemas.microsoft.com/office/drawing/2014/main" id="{0ED5FEA2-A413-3049-E8E2-BB74B61B15E2}"/>
              </a:ext>
            </a:extLst>
          </p:cNvPr>
          <p:cNvSpPr/>
          <p:nvPr/>
        </p:nvSpPr>
        <p:spPr>
          <a:xfrm>
            <a:off x="274320" y="2307595"/>
            <a:ext cx="4023360" cy="45719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554480"/>
          </a:xfrm>
          <a:prstGeom prst="rect">
            <a:avLst/>
          </a:prstGeom>
          <a:solidFill>
            <a:srgbClr val="E8EAF6"/>
          </a:solidFill>
          <a:ln w="12700">
            <a:solidFill>
              <a:srgbClr val="D0D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502920" cy="1554480"/>
          </a:xfrm>
          <a:prstGeom prst="rect">
            <a:avLst/>
          </a:prstGeom>
          <a:solidFill>
            <a:srgbClr val="00206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50876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155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Limitations</a:t>
            </a:r>
          </a:p>
        </p:txBody>
      </p:sp>
      <p:sp>
        <p:nvSpPr>
          <p:cNvPr id="9" name="Text 6"/>
          <p:cNvSpPr/>
          <p:nvPr/>
        </p:nvSpPr>
        <p:spPr>
          <a:xfrm>
            <a:off x="868680" y="15087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local alarms ignore easily alarms. If the owner is far away, they receive no notification of a breach.</a:t>
            </a:r>
          </a:p>
        </p:txBody>
      </p:sp>
      <p:sp>
        <p:nvSpPr>
          <p:cNvPr id="10" name="Shape 7"/>
          <p:cNvSpPr/>
          <p:nvPr/>
        </p:nvSpPr>
        <p:spPr>
          <a:xfrm>
            <a:off x="4754880" y="1005840"/>
            <a:ext cx="4114800" cy="1554480"/>
          </a:xfrm>
          <a:prstGeom prst="rect">
            <a:avLst/>
          </a:prstGeom>
          <a:solidFill>
            <a:srgbClr val="E8EAF6"/>
          </a:solidFill>
          <a:ln w="12700">
            <a:solidFill>
              <a:srgbClr val="D0D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502920" cy="1554480"/>
          </a:xfrm>
          <a:prstGeom prst="rect">
            <a:avLst/>
          </a:prstGeom>
          <a:solidFill>
            <a:srgbClr val="00206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50876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11155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Alerts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349240" y="15087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remain unaware of break-ins</a:t>
            </a:r>
          </a:p>
          <a:p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unauthorized access attempts</a:t>
            </a:r>
          </a:p>
        </p:txBody>
      </p:sp>
      <p:sp>
        <p:nvSpPr>
          <p:cNvPr id="15" name="Shape 11"/>
          <p:cNvSpPr/>
          <p:nvPr/>
        </p:nvSpPr>
        <p:spPr>
          <a:xfrm>
            <a:off x="274320" y="2834640"/>
            <a:ext cx="4114800" cy="1554480"/>
          </a:xfrm>
          <a:prstGeom prst="rect">
            <a:avLst/>
          </a:prstGeom>
          <a:solidFill>
            <a:srgbClr val="E8EAF6"/>
          </a:solidFill>
          <a:ln w="12700">
            <a:solidFill>
              <a:srgbClr val="D0D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274320" y="2834640"/>
            <a:ext cx="502920" cy="1554480"/>
          </a:xfrm>
          <a:prstGeom prst="rect">
            <a:avLst/>
          </a:prstGeom>
          <a:solidFill>
            <a:srgbClr val="00206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333756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680" y="29443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Tracking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68680" y="33375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stolen, vehicles are hard to locate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embedded GPS solutions</a:t>
            </a:r>
          </a:p>
        </p:txBody>
      </p:sp>
      <p:sp>
        <p:nvSpPr>
          <p:cNvPr id="20" name="Shape 15"/>
          <p:cNvSpPr/>
          <p:nvPr/>
        </p:nvSpPr>
        <p:spPr>
          <a:xfrm>
            <a:off x="4754880" y="2834640"/>
            <a:ext cx="4114800" cy="1554480"/>
          </a:xfrm>
          <a:prstGeom prst="rect">
            <a:avLst/>
          </a:prstGeom>
          <a:solidFill>
            <a:srgbClr val="E8EAF6"/>
          </a:solidFill>
          <a:ln w="12700">
            <a:solidFill>
              <a:srgbClr val="D0D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754880" y="2834640"/>
            <a:ext cx="502920" cy="1554480"/>
          </a:xfrm>
          <a:prstGeom prst="rect">
            <a:avLst/>
          </a:prstGeom>
          <a:solidFill>
            <a:srgbClr val="00206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333756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49240" y="29443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Dependency</a:t>
            </a:r>
          </a:p>
        </p:txBody>
      </p:sp>
      <p:sp>
        <p:nvSpPr>
          <p:cNvPr id="24" name="Text 18"/>
          <p:cNvSpPr/>
          <p:nvPr/>
        </p:nvSpPr>
        <p:spPr>
          <a:xfrm>
            <a:off x="5349240" y="33375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car apps require Wi-Fi or mobile data leaving the car completely vulnerable in network dead zones.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Multi-layered embedded security system combining hardware sensors,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communication, and a remote web interface which is a dual communication channels.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2743200" cy="292608"/>
          </a:xfrm>
          <a:prstGeom prst="rect">
            <a:avLst/>
          </a:prstGeom>
          <a:solidFill>
            <a:srgbClr val="00206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7282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172821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+ FreeRTOS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207568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controller with real-time multitasking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0" y="169164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00400" y="1691640"/>
            <a:ext cx="2743200" cy="292608"/>
          </a:xfrm>
          <a:prstGeom prst="rect">
            <a:avLst/>
          </a:prstGeom>
          <a:solidFill>
            <a:srgbClr val="00206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552" y="1728216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0440" y="172821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Authorization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291840" y="207568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Key-based access using MFRC522 scanner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26480" y="169164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126480" y="1691640"/>
            <a:ext cx="2743200" cy="292608"/>
          </a:xfrm>
          <a:prstGeom prst="rect">
            <a:avLst/>
          </a:prstGeom>
          <a:solidFill>
            <a:srgbClr val="00206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1728216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46520" y="172821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Multi-Sensor Alarm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217920" y="207568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Reed switch + vibration + buzzer + LED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274320" y="310896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274320" y="3108960"/>
            <a:ext cx="2743200" cy="292608"/>
          </a:xfrm>
          <a:prstGeom prst="rect">
            <a:avLst/>
          </a:prstGeom>
          <a:solidFill>
            <a:srgbClr val="00206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3145536"/>
            <a:ext cx="201168" cy="20116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94360" y="314553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Tracking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365760" y="349300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coordinates via GPS module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200400" y="310896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3200400" y="3108960"/>
            <a:ext cx="2743200" cy="292608"/>
          </a:xfrm>
          <a:prstGeom prst="rect">
            <a:avLst/>
          </a:prstGeom>
          <a:solidFill>
            <a:srgbClr val="00206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3552" y="3145536"/>
            <a:ext cx="201168" cy="20116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520440" y="314553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 Alerts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3291840" y="349300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SMS alerts to owner's phone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6126480" y="310896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6126480" y="3108960"/>
            <a:ext cx="2743200" cy="2926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9632" y="3145536"/>
            <a:ext cx="201168" cy="20116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446520" y="314553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Web Interface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6217920" y="349300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arm/disarm &amp; monitoring via browser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474720" y="1737360"/>
            <a:ext cx="2194560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A23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8288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74720" y="17373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STM32F401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FreeRTOS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28600" y="914400"/>
            <a:ext cx="1828800" cy="7772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" y="111556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2648" y="10058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MFRC522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28600" y="2286000"/>
            <a:ext cx="1828800" cy="777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" y="248716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2648" y="23774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Reed Switch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Sensor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228600" y="3657600"/>
            <a:ext cx="1828800" cy="7772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52" y="3858768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12648" y="37490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6903720" y="914400"/>
            <a:ext cx="182880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6872" y="1115568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287768" y="10058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H-Bridge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Motor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6903720" y="2286000"/>
            <a:ext cx="1828800" cy="7772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6872" y="2487168"/>
            <a:ext cx="274320" cy="27432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287768" y="23774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+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Alarm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6903720" y="3657600"/>
            <a:ext cx="18288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6872" y="3858768"/>
            <a:ext cx="274320" cy="27432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287768" y="37490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GSM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</p:txBody>
      </p:sp>
      <p:sp>
        <p:nvSpPr>
          <p:cNvPr id="26" name="Shape 17"/>
          <p:cNvSpPr/>
          <p:nvPr/>
        </p:nvSpPr>
        <p:spPr>
          <a:xfrm>
            <a:off x="3474720" y="3931920"/>
            <a:ext cx="1828800" cy="77724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47872" y="4133088"/>
            <a:ext cx="274320" cy="27432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3858768" y="40233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000" dirty="0"/>
          </a:p>
        </p:txBody>
      </p:sp>
      <p:sp>
        <p:nvSpPr>
          <p:cNvPr id="29" name="Shape 19"/>
          <p:cNvSpPr/>
          <p:nvPr/>
        </p:nvSpPr>
        <p:spPr>
          <a:xfrm>
            <a:off x="3794760" y="644652"/>
            <a:ext cx="1828800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67912" y="845820"/>
            <a:ext cx="274320" cy="27432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4178808" y="73609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1000" dirty="0"/>
          </a:p>
        </p:txBody>
      </p:sp>
      <p:sp>
        <p:nvSpPr>
          <p:cNvPr id="32" name="Shape 21"/>
          <p:cNvSpPr/>
          <p:nvPr/>
        </p:nvSpPr>
        <p:spPr>
          <a:xfrm>
            <a:off x="2057400" y="1307592"/>
            <a:ext cx="1417320" cy="704088"/>
          </a:xfrm>
          <a:prstGeom prst="line">
            <a:avLst/>
          </a:prstGeom>
          <a:noFill/>
          <a:ln w="19050">
            <a:solidFill>
              <a:srgbClr val="90A4A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2"/>
          <p:cNvSpPr/>
          <p:nvPr/>
        </p:nvSpPr>
        <p:spPr>
          <a:xfrm flipV="1">
            <a:off x="2057400" y="2468880"/>
            <a:ext cx="1417320" cy="210312"/>
          </a:xfrm>
          <a:prstGeom prst="line">
            <a:avLst/>
          </a:prstGeom>
          <a:noFill/>
          <a:ln w="19050">
            <a:solidFill>
              <a:srgbClr val="90A4A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3"/>
          <p:cNvSpPr/>
          <p:nvPr/>
        </p:nvSpPr>
        <p:spPr>
          <a:xfrm flipV="1">
            <a:off x="2057399" y="2670048"/>
            <a:ext cx="1882113" cy="1380744"/>
          </a:xfrm>
          <a:prstGeom prst="line">
            <a:avLst/>
          </a:prstGeom>
          <a:noFill/>
          <a:ln w="19050">
            <a:solidFill>
              <a:srgbClr val="90A4A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4"/>
          <p:cNvSpPr/>
          <p:nvPr/>
        </p:nvSpPr>
        <p:spPr>
          <a:xfrm flipV="1">
            <a:off x="5669280" y="1550260"/>
            <a:ext cx="1234440" cy="475488"/>
          </a:xfrm>
          <a:prstGeom prst="line">
            <a:avLst/>
          </a:prstGeom>
          <a:noFill/>
          <a:ln w="19050">
            <a:solidFill>
              <a:srgbClr val="90A4A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5"/>
          <p:cNvSpPr/>
          <p:nvPr/>
        </p:nvSpPr>
        <p:spPr>
          <a:xfrm>
            <a:off x="5669280" y="2286000"/>
            <a:ext cx="1234440" cy="393192"/>
          </a:xfrm>
          <a:prstGeom prst="line">
            <a:avLst/>
          </a:prstGeom>
          <a:noFill/>
          <a:ln w="19050">
            <a:solidFill>
              <a:srgbClr val="90A4A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6"/>
          <p:cNvSpPr/>
          <p:nvPr/>
        </p:nvSpPr>
        <p:spPr>
          <a:xfrm>
            <a:off x="5669280" y="2514600"/>
            <a:ext cx="1234440" cy="1536192"/>
          </a:xfrm>
          <a:prstGeom prst="line">
            <a:avLst/>
          </a:prstGeom>
          <a:noFill/>
          <a:ln w="19050">
            <a:solidFill>
              <a:srgbClr val="90A4A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27"/>
          <p:cNvSpPr/>
          <p:nvPr/>
        </p:nvSpPr>
        <p:spPr>
          <a:xfrm>
            <a:off x="4572000" y="2651760"/>
            <a:ext cx="0" cy="1280160"/>
          </a:xfrm>
          <a:prstGeom prst="line">
            <a:avLst/>
          </a:prstGeom>
          <a:noFill/>
          <a:ln w="19050">
            <a:solidFill>
              <a:srgbClr val="90A4A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28"/>
          <p:cNvSpPr/>
          <p:nvPr/>
        </p:nvSpPr>
        <p:spPr>
          <a:xfrm>
            <a:off x="4892040" y="1531620"/>
            <a:ext cx="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24">
            <a:extLst>
              <a:ext uri="{FF2B5EF4-FFF2-40B4-BE49-F238E27FC236}">
                <a16:creationId xmlns:a16="http://schemas.microsoft.com/office/drawing/2014/main" id="{358EBABC-126D-E7F1-9E86-C6A33AF19163}"/>
              </a:ext>
            </a:extLst>
          </p:cNvPr>
          <p:cNvSpPr/>
          <p:nvPr/>
        </p:nvSpPr>
        <p:spPr>
          <a:xfrm flipV="1">
            <a:off x="4640580" y="1421892"/>
            <a:ext cx="68580" cy="306324"/>
          </a:xfrm>
          <a:prstGeom prst="line">
            <a:avLst/>
          </a:prstGeom>
          <a:noFill/>
          <a:ln w="19050">
            <a:solidFill>
              <a:srgbClr val="90A4A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Steps &amp; Outcomes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03920" cy="566928"/>
          </a:xfrm>
          <a:prstGeom prst="rect">
            <a:avLst/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502920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8813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078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Design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268980" y="10927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80560" y="107899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list, system block diagram, GPIO map, security scenarios, and communication requirements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618488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618488"/>
            <a:ext cx="502920" cy="5669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74650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Assembly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68980" y="175107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80560" y="17373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&amp; tested all sensors/actuators on breadboard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276856"/>
            <a:ext cx="8503920" cy="566928"/>
          </a:xfrm>
          <a:prstGeom prst="rect">
            <a:avLst/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276856"/>
            <a:ext cx="502920" cy="5669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24048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2395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 Firmware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3268980" y="240944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80560" y="239572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for RFID, sensors, GSM/GPS, LCD running concurrently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2935224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2935224"/>
            <a:ext cx="50292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3063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30540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Web Interface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3268980" y="306781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480560" y="305409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dashboard deployed with public URL, with remote arm/disarm, GPS display, and live alert feed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3593592"/>
            <a:ext cx="8503920" cy="566928"/>
          </a:xfrm>
          <a:prstGeom prst="rect">
            <a:avLst/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4320" y="3593592"/>
            <a:ext cx="502920" cy="5669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" y="37216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14400" y="37124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Testing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3268980" y="37261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480560" y="371246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end-to-end scenario testing (auth, alarm, GPS, SMS)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74320" y="4251960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74320" y="4251960"/>
            <a:ext cx="502920" cy="56692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74320" y="43799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14400" y="4370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Demo &amp; Report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3268980" y="43845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480560" y="437083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demonstration(Car Maquet), GitHub repo, documentation complete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Hardware &amp; Specs</a:t>
            </a:r>
            <a:endParaRPr lang="en-US" sz="3200" dirty="0">
              <a:solidFill>
                <a:srgbClr val="002060"/>
              </a:solidFill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252292"/>
              </p:ext>
            </p:extLst>
          </p:nvPr>
        </p:nvGraphicFramePr>
        <p:xfrm>
          <a:off x="274320" y="960120"/>
          <a:ext cx="8595360" cy="3761232"/>
        </p:xfrm>
        <a:graphic>
          <a:graphicData uri="http://schemas.openxmlformats.org/drawingml/2006/table">
            <a:tbl>
              <a:tblPr/>
              <a:tblGrid>
                <a:gridCol w="3720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4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400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400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Controller</a:t>
                      </a:r>
                      <a:endParaRPr lang="en-US" sz="1200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STM32F401 Black Pill @ 84 MHz</a:t>
                      </a:r>
                      <a:endParaRPr lang="en-US" sz="1200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RTOS</a:t>
                      </a:r>
                      <a:endParaRPr lang="en-US" sz="1200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FreeRTOS</a:t>
                      </a:r>
                      <a:r>
                        <a:rPr lang="en-US" sz="12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-&gt;  concurrent task scheduling</a:t>
                      </a:r>
                      <a:endParaRPr lang="en-US" sz="1200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RFID Module</a:t>
                      </a:r>
                      <a:endParaRPr lang="en-US" sz="1200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MFRC522 —&gt; SPI interface </a:t>
                      </a:r>
                      <a:endParaRPr lang="en-US" sz="1200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Driver</a:t>
                      </a:r>
                      <a:endParaRPr lang="en-US" sz="1200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H-Bridge(12v) —&gt; DC motor (5v)</a:t>
                      </a:r>
                      <a:endParaRPr lang="en-US" sz="1200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Alarm</a:t>
                      </a:r>
                      <a:endParaRPr lang="en-US" sz="1200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buzzer </a:t>
                      </a:r>
                      <a:endParaRPr lang="en-US" sz="1200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Door Sensor</a:t>
                      </a:r>
                      <a:endParaRPr lang="en-US" sz="1200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Magnetic reed switch</a:t>
                      </a:r>
                      <a:endParaRPr lang="en-US" sz="1200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Vibration Sensor</a:t>
                      </a:r>
                      <a:endParaRPr lang="en-US" sz="1200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SW-420 vibration sensor module</a:t>
                      </a:r>
                      <a:endParaRPr lang="en-US" sz="1200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 Module</a:t>
                      </a:r>
                      <a:endParaRPr lang="en-US" sz="1200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NEO-6M GPS module —&gt; UART</a:t>
                      </a:r>
                      <a:endParaRPr lang="en-US" sz="1200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GSM Module</a:t>
                      </a:r>
                      <a:endParaRPr lang="en-US" sz="1200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SIM800L —&gt; SMS alerts —&gt;  UART</a:t>
                      </a:r>
                      <a:endParaRPr lang="en-US" sz="1200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</a:t>
                      </a:r>
                      <a:endParaRPr lang="en-US" sz="1200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16×2 LCD — I2C </a:t>
                      </a:r>
                      <a:endParaRPr lang="en-US" sz="1200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Interface MCU</a:t>
                      </a: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— HTML web UI, public URL</a:t>
                      </a:r>
                      <a:endParaRPr lang="en-US" sz="1200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Supply</a:t>
                      </a: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12V DC → 5V / 3.3V</a:t>
                      </a: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hysical Security Perimeter"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2060"/>
                </a:solidFill>
                <a:latin typeface="Calibri" pitchFamily="34" charset="0"/>
              </a:rPr>
              <a:t>Physical Security Perimeter</a:t>
            </a:r>
          </a:p>
        </p:txBody>
      </p:sp>
      <p:sp>
        <p:nvSpPr>
          <p:cNvPr id="5" name="Shape 5"/>
          <p:cNvSpPr/>
          <p:nvPr/>
        </p:nvSpPr>
        <p:spPr>
          <a:xfrm>
            <a:off x="256032" y="96012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Accent 6"/>
          <p:cNvSpPr/>
          <p:nvPr/>
        </p:nvSpPr>
        <p:spPr>
          <a:xfrm>
            <a:off x="256032" y="960120"/>
            <a:ext cx="502920" cy="1170432"/>
          </a:xfrm>
          <a:prstGeom prst="rect">
            <a:avLst/>
          </a:prstGeom>
          <a:solidFill>
            <a:srgbClr val="002060"/>
          </a:solidFill>
          <a:ln w="12700">
            <a:noFill/>
            <a:prstDash val="solid"/>
          </a:ln>
        </p:spPr>
        <p:txBody>
          <a:bodyPr/>
          <a:lstStyle/>
          <a:p>
            <a:endParaRPr lang="en-US">
              <a:solidFill>
                <a:srgbClr val="1565C0"/>
              </a:solidFill>
            </a:endParaRPr>
          </a:p>
        </p:txBody>
      </p:sp>
      <p:pic>
        <p:nvPicPr>
          <p:cNvPr id="7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362456"/>
            <a:ext cx="320040" cy="320040"/>
          </a:xfrm>
          <a:prstGeom prst="rect">
            <a:avLst/>
          </a:prstGeom>
        </p:spPr>
      </p:pic>
      <p:sp>
        <p:nvSpPr>
          <p:cNvPr id="8" name="Header 8"/>
          <p:cNvSpPr/>
          <p:nvPr/>
        </p:nvSpPr>
        <p:spPr>
          <a:xfrm>
            <a:off x="850392" y="10515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</a:rPr>
              <a:t>RFID Access Control</a:t>
            </a:r>
          </a:p>
        </p:txBody>
      </p:sp>
      <p:sp>
        <p:nvSpPr>
          <p:cNvPr id="9" name="Body 9"/>
          <p:cNvSpPr/>
          <p:nvPr/>
        </p:nvSpPr>
        <p:spPr>
          <a:xfrm>
            <a:off x="850392" y="1362456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</a:rPr>
              <a:t>MFRC522 scanner via SPI: authorized cards unlock normally; unauthorized cards trigger immediate buzzer alarm</a:t>
            </a:r>
          </a:p>
        </p:txBody>
      </p:sp>
      <p:sp>
        <p:nvSpPr>
          <p:cNvPr id="15" name="Shape 15"/>
          <p:cNvSpPr/>
          <p:nvPr/>
        </p:nvSpPr>
        <p:spPr>
          <a:xfrm>
            <a:off x="4663440" y="96012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Accent 16"/>
          <p:cNvSpPr/>
          <p:nvPr/>
        </p:nvSpPr>
        <p:spPr>
          <a:xfrm>
            <a:off x="4663440" y="960120"/>
            <a:ext cx="502920" cy="1170432"/>
          </a:xfrm>
          <a:prstGeom prst="rect">
            <a:avLst/>
          </a:prstGeom>
          <a:solidFill>
            <a:srgbClr val="002060"/>
          </a:solidFill>
          <a:ln w="12700">
            <a:noFill/>
            <a:prstDash val="solid"/>
          </a:ln>
        </p:spPr>
        <p:txBody>
          <a:bodyPr/>
          <a:lstStyle/>
          <a:p>
            <a:endParaRPr lang="en-US">
              <a:solidFill>
                <a:srgbClr val="1565C0"/>
              </a:solidFill>
            </a:endParaRPr>
          </a:p>
        </p:txBody>
      </p:sp>
      <p:pic>
        <p:nvPicPr>
          <p:cNvPr id="17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1362456"/>
            <a:ext cx="320040" cy="320040"/>
          </a:xfrm>
          <a:prstGeom prst="rect">
            <a:avLst/>
          </a:prstGeom>
        </p:spPr>
      </p:pic>
      <p:sp>
        <p:nvSpPr>
          <p:cNvPr id="18" name="Header 18"/>
          <p:cNvSpPr/>
          <p:nvPr/>
        </p:nvSpPr>
        <p:spPr>
          <a:xfrm>
            <a:off x="5257800" y="10515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</a:rPr>
              <a:t>Magnetic Reed Switch</a:t>
            </a:r>
          </a:p>
        </p:txBody>
      </p:sp>
      <p:sp>
        <p:nvSpPr>
          <p:cNvPr id="19" name="Body 19"/>
          <p:cNvSpPr/>
          <p:nvPr/>
        </p:nvSpPr>
        <p:spPr>
          <a:xfrm>
            <a:off x="5257800" y="1362456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</a:rPr>
              <a:t>Door sensor detects any unauthorized opening attempt and instantly activates the alarm system</a:t>
            </a:r>
          </a:p>
        </p:txBody>
      </p:sp>
      <p:sp>
        <p:nvSpPr>
          <p:cNvPr id="25" name="Shape 25"/>
          <p:cNvSpPr/>
          <p:nvPr/>
        </p:nvSpPr>
        <p:spPr>
          <a:xfrm>
            <a:off x="256032" y="228600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Accent 26"/>
          <p:cNvSpPr/>
          <p:nvPr/>
        </p:nvSpPr>
        <p:spPr>
          <a:xfrm>
            <a:off x="256032" y="2286000"/>
            <a:ext cx="502920" cy="1170432"/>
          </a:xfrm>
          <a:prstGeom prst="rect">
            <a:avLst/>
          </a:prstGeom>
          <a:solidFill>
            <a:srgbClr val="002060"/>
          </a:solidFill>
          <a:ln w="12700">
            <a:noFill/>
            <a:prstDash val="solid"/>
          </a:ln>
        </p:spPr>
        <p:txBody>
          <a:bodyPr/>
          <a:lstStyle/>
          <a:p>
            <a:endParaRPr lang="en-US">
              <a:solidFill>
                <a:srgbClr val="1565C0"/>
              </a:solidFill>
            </a:endParaRPr>
          </a:p>
        </p:txBody>
      </p:sp>
      <p:pic>
        <p:nvPicPr>
          <p:cNvPr id="27" name="Image 2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" y="2688336"/>
            <a:ext cx="320040" cy="320040"/>
          </a:xfrm>
          <a:prstGeom prst="rect">
            <a:avLst/>
          </a:prstGeom>
        </p:spPr>
      </p:pic>
      <p:sp>
        <p:nvSpPr>
          <p:cNvPr id="28" name="Header 28"/>
          <p:cNvSpPr/>
          <p:nvPr/>
        </p:nvSpPr>
        <p:spPr>
          <a:xfrm>
            <a:off x="850392" y="23774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</a:rPr>
              <a:t>SW-420 Vibration Sensor</a:t>
            </a:r>
          </a:p>
        </p:txBody>
      </p:sp>
      <p:sp>
        <p:nvSpPr>
          <p:cNvPr id="29" name="Body 29"/>
          <p:cNvSpPr/>
          <p:nvPr/>
        </p:nvSpPr>
        <p:spPr>
          <a:xfrm>
            <a:off x="850392" y="2688336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</a:rPr>
              <a:t>Detects window-break and forced-entry attempts — provides full perimeter coverage beyond just the door</a:t>
            </a:r>
          </a:p>
        </p:txBody>
      </p:sp>
      <p:sp>
        <p:nvSpPr>
          <p:cNvPr id="35" name="Shape 35"/>
          <p:cNvSpPr/>
          <p:nvPr/>
        </p:nvSpPr>
        <p:spPr>
          <a:xfrm>
            <a:off x="4663440" y="228600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Accent 36"/>
          <p:cNvSpPr/>
          <p:nvPr/>
        </p:nvSpPr>
        <p:spPr>
          <a:xfrm>
            <a:off x="4663440" y="2286000"/>
            <a:ext cx="502920" cy="1170432"/>
          </a:xfrm>
          <a:prstGeom prst="rect">
            <a:avLst/>
          </a:prstGeom>
          <a:solidFill>
            <a:srgbClr val="002060"/>
          </a:solidFill>
          <a:ln w="12700">
            <a:noFill/>
            <a:prstDash val="solid"/>
          </a:ln>
        </p:spPr>
        <p:txBody>
          <a:bodyPr/>
          <a:lstStyle/>
          <a:p>
            <a:endParaRPr lang="en-US">
              <a:solidFill>
                <a:srgbClr val="1565C0"/>
              </a:solidFill>
            </a:endParaRPr>
          </a:p>
        </p:txBody>
      </p:sp>
      <p:pic>
        <p:nvPicPr>
          <p:cNvPr id="37" name="Image 3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5736" y="2688336"/>
            <a:ext cx="320040" cy="320040"/>
          </a:xfrm>
          <a:prstGeom prst="rect">
            <a:avLst/>
          </a:prstGeom>
        </p:spPr>
      </p:pic>
      <p:sp>
        <p:nvSpPr>
          <p:cNvPr id="38" name="Header 38"/>
          <p:cNvSpPr/>
          <p:nvPr/>
        </p:nvSpPr>
        <p:spPr>
          <a:xfrm>
            <a:off x="5257800" y="23774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</a:rPr>
              <a:t>Active Buzzer + LEDs</a:t>
            </a:r>
          </a:p>
        </p:txBody>
      </p:sp>
      <p:sp>
        <p:nvSpPr>
          <p:cNvPr id="39" name="Body 39"/>
          <p:cNvSpPr/>
          <p:nvPr/>
        </p:nvSpPr>
        <p:spPr>
          <a:xfrm>
            <a:off x="5257800" y="2688336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</a:rPr>
              <a:t>Immediate local alarm on any breach — audible buzzer and visual LED indicator for rapid deterrence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reeRTOS Firmware and Engine Control"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2060"/>
                </a:solidFill>
                <a:latin typeface="Calibri" pitchFamily="34" charset="0"/>
              </a:rPr>
              <a:t>FreeRTOS Firmware &amp; Engine Control</a:t>
            </a:r>
          </a:p>
        </p:txBody>
      </p:sp>
      <p:sp>
        <p:nvSpPr>
          <p:cNvPr id="5" name="Shape 5"/>
          <p:cNvSpPr/>
          <p:nvPr/>
        </p:nvSpPr>
        <p:spPr>
          <a:xfrm>
            <a:off x="256032" y="96012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Accent 6"/>
          <p:cNvSpPr/>
          <p:nvPr/>
        </p:nvSpPr>
        <p:spPr>
          <a:xfrm>
            <a:off x="256032" y="960120"/>
            <a:ext cx="502920" cy="1170432"/>
          </a:xfrm>
          <a:prstGeom prst="rect">
            <a:avLst/>
          </a:prstGeom>
          <a:solidFill>
            <a:srgbClr val="002060"/>
          </a:solidFill>
          <a:ln w="12700">
            <a:noFill/>
            <a:prstDash val="solid"/>
          </a:ln>
        </p:spPr>
        <p:txBody>
          <a:bodyPr/>
          <a:lstStyle/>
          <a:p>
            <a:endParaRPr lang="en-US">
              <a:solidFill>
                <a:srgbClr val="1565C0"/>
              </a:solidFill>
            </a:endParaRPr>
          </a:p>
        </p:txBody>
      </p:sp>
      <p:pic>
        <p:nvPicPr>
          <p:cNvPr id="7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362456"/>
            <a:ext cx="320040" cy="320040"/>
          </a:xfrm>
          <a:prstGeom prst="rect">
            <a:avLst/>
          </a:prstGeom>
        </p:spPr>
      </p:pic>
      <p:sp>
        <p:nvSpPr>
          <p:cNvPr id="8" name="Header 8"/>
          <p:cNvSpPr/>
          <p:nvPr/>
        </p:nvSpPr>
        <p:spPr>
          <a:xfrm>
            <a:off x="850392" y="10515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</a:rPr>
              <a:t>FreeRTOS Task Architecture</a:t>
            </a:r>
          </a:p>
        </p:txBody>
      </p:sp>
      <p:sp>
        <p:nvSpPr>
          <p:cNvPr id="9" name="Body 9"/>
          <p:cNvSpPr/>
          <p:nvPr/>
        </p:nvSpPr>
        <p:spPr>
          <a:xfrm>
            <a:off x="850392" y="1362456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</a:rPr>
              <a:t>Concurrent task scheduling ensures RFID, sensors, GPS/GSM, and LCD modules all run simultaneously without blocking</a:t>
            </a:r>
          </a:p>
        </p:txBody>
      </p:sp>
      <p:sp>
        <p:nvSpPr>
          <p:cNvPr id="15" name="Shape 15"/>
          <p:cNvSpPr/>
          <p:nvPr/>
        </p:nvSpPr>
        <p:spPr>
          <a:xfrm>
            <a:off x="4663440" y="96012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Accent 16"/>
          <p:cNvSpPr/>
          <p:nvPr/>
        </p:nvSpPr>
        <p:spPr>
          <a:xfrm>
            <a:off x="4663440" y="960120"/>
            <a:ext cx="502920" cy="1170432"/>
          </a:xfrm>
          <a:prstGeom prst="rect">
            <a:avLst/>
          </a:prstGeom>
          <a:solidFill>
            <a:srgbClr val="002060"/>
          </a:solidFill>
          <a:ln w="12700">
            <a:noFill/>
            <a:prstDash val="solid"/>
          </a:ln>
        </p:spPr>
        <p:txBody>
          <a:bodyPr/>
          <a:lstStyle/>
          <a:p>
            <a:endParaRPr lang="en-US">
              <a:solidFill>
                <a:srgbClr val="1565C0"/>
              </a:solidFill>
            </a:endParaRPr>
          </a:p>
        </p:txBody>
      </p:sp>
      <p:pic>
        <p:nvPicPr>
          <p:cNvPr id="17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1362456"/>
            <a:ext cx="320040" cy="320040"/>
          </a:xfrm>
          <a:prstGeom prst="rect">
            <a:avLst/>
          </a:prstGeom>
        </p:spPr>
      </p:pic>
      <p:sp>
        <p:nvSpPr>
          <p:cNvPr id="18" name="Header 18"/>
          <p:cNvSpPr/>
          <p:nvPr/>
        </p:nvSpPr>
        <p:spPr>
          <a:xfrm>
            <a:off x="5257800" y="10515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</a:rPr>
              <a:t>RFID Authorization Logic</a:t>
            </a:r>
          </a:p>
        </p:txBody>
      </p:sp>
      <p:sp>
        <p:nvSpPr>
          <p:cNvPr id="19" name="Body 19"/>
          <p:cNvSpPr/>
          <p:nvPr/>
        </p:nvSpPr>
        <p:spPr>
          <a:xfrm>
            <a:off x="5257800" y="1362456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</a:rPr>
              <a:t>Authorized cards: normal access granted. Unauthorized cards: alarm triggers immediately via buzzer and LED</a:t>
            </a:r>
          </a:p>
        </p:txBody>
      </p:sp>
      <p:sp>
        <p:nvSpPr>
          <p:cNvPr id="25" name="Shape 25"/>
          <p:cNvSpPr/>
          <p:nvPr/>
        </p:nvSpPr>
        <p:spPr>
          <a:xfrm>
            <a:off x="256032" y="228600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Accent 26"/>
          <p:cNvSpPr/>
          <p:nvPr/>
        </p:nvSpPr>
        <p:spPr>
          <a:xfrm>
            <a:off x="256032" y="2286000"/>
            <a:ext cx="502920" cy="1170432"/>
          </a:xfrm>
          <a:prstGeom prst="rect">
            <a:avLst/>
          </a:prstGeom>
          <a:solidFill>
            <a:srgbClr val="002060"/>
          </a:solidFill>
          <a:ln w="12700">
            <a:noFill/>
            <a:prstDash val="solid"/>
          </a:ln>
        </p:spPr>
        <p:txBody>
          <a:bodyPr/>
          <a:lstStyle/>
          <a:p>
            <a:endParaRPr lang="en-US">
              <a:solidFill>
                <a:srgbClr val="1565C0"/>
              </a:solidFill>
            </a:endParaRPr>
          </a:p>
        </p:txBody>
      </p:sp>
      <p:pic>
        <p:nvPicPr>
          <p:cNvPr id="27" name="Image 2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" y="2688336"/>
            <a:ext cx="320040" cy="320040"/>
          </a:xfrm>
          <a:prstGeom prst="rect">
            <a:avLst/>
          </a:prstGeom>
        </p:spPr>
      </p:pic>
      <p:sp>
        <p:nvSpPr>
          <p:cNvPr id="28" name="Header 28"/>
          <p:cNvSpPr/>
          <p:nvPr/>
        </p:nvSpPr>
        <p:spPr>
          <a:xfrm>
            <a:off x="850392" y="23774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</a:rPr>
              <a:t>Engine Start Control</a:t>
            </a:r>
          </a:p>
        </p:txBody>
      </p:sp>
      <p:sp>
        <p:nvSpPr>
          <p:cNvPr id="29" name="Body 29"/>
          <p:cNvSpPr/>
          <p:nvPr/>
        </p:nvSpPr>
        <p:spPr>
          <a:xfrm>
            <a:off x="850392" y="2688336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</a:rPr>
              <a:t>Push button activates engine via 12V H-Bridge controlling a 5V DC motor — only available after valid RFID authorization</a:t>
            </a:r>
          </a:p>
        </p:txBody>
      </p:sp>
      <p:sp>
        <p:nvSpPr>
          <p:cNvPr id="35" name="Shape 35"/>
          <p:cNvSpPr/>
          <p:nvPr/>
        </p:nvSpPr>
        <p:spPr>
          <a:xfrm>
            <a:off x="4663440" y="228600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Accent 36"/>
          <p:cNvSpPr/>
          <p:nvPr/>
        </p:nvSpPr>
        <p:spPr>
          <a:xfrm>
            <a:off x="4663440" y="2286000"/>
            <a:ext cx="502920" cy="1170432"/>
          </a:xfrm>
          <a:prstGeom prst="rect">
            <a:avLst/>
          </a:prstGeom>
          <a:solidFill>
            <a:srgbClr val="002060"/>
          </a:solidFill>
          <a:ln w="12700">
            <a:noFill/>
            <a:prstDash val="solid"/>
          </a:ln>
        </p:spPr>
        <p:txBody>
          <a:bodyPr/>
          <a:lstStyle/>
          <a:p>
            <a:endParaRPr lang="en-US">
              <a:solidFill>
                <a:srgbClr val="1565C0"/>
              </a:solidFill>
            </a:endParaRPr>
          </a:p>
        </p:txBody>
      </p:sp>
      <p:pic>
        <p:nvPicPr>
          <p:cNvPr id="37" name="Image 3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5736" y="2688336"/>
            <a:ext cx="320040" cy="320040"/>
          </a:xfrm>
          <a:prstGeom prst="rect">
            <a:avLst/>
          </a:prstGeom>
        </p:spPr>
      </p:pic>
      <p:sp>
        <p:nvSpPr>
          <p:cNvPr id="38" name="Header 38"/>
          <p:cNvSpPr/>
          <p:nvPr/>
        </p:nvSpPr>
        <p:spPr>
          <a:xfrm>
            <a:off x="5257800" y="23774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</a:rPr>
              <a:t>LCD Status Display</a:t>
            </a:r>
          </a:p>
        </p:txBody>
      </p:sp>
      <p:sp>
        <p:nvSpPr>
          <p:cNvPr id="39" name="Body 39"/>
          <p:cNvSpPr/>
          <p:nvPr/>
        </p:nvSpPr>
        <p:spPr>
          <a:xfrm>
            <a:off x="5257800" y="2688336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</a:rPr>
              <a:t>16x2 I2C LCD reflects live system state transitions  Armed, Disarmed, Alarm Active, Engine On  for local debugging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nectivity GPS GSM and ESP32"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2060"/>
                </a:solidFill>
                <a:latin typeface="Calibri" pitchFamily="34" charset="0"/>
              </a:rPr>
              <a:t>Connectivity: GPS, GSM &amp; ESP32 Dashboard</a:t>
            </a:r>
          </a:p>
        </p:txBody>
      </p:sp>
      <p:sp>
        <p:nvSpPr>
          <p:cNvPr id="5" name="Shape 5"/>
          <p:cNvSpPr/>
          <p:nvPr/>
        </p:nvSpPr>
        <p:spPr>
          <a:xfrm>
            <a:off x="256032" y="96012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Accent 6"/>
          <p:cNvSpPr/>
          <p:nvPr/>
        </p:nvSpPr>
        <p:spPr>
          <a:xfrm>
            <a:off x="256032" y="960120"/>
            <a:ext cx="502920" cy="1170432"/>
          </a:xfrm>
          <a:prstGeom prst="rect">
            <a:avLst/>
          </a:prstGeom>
          <a:solidFill>
            <a:srgbClr val="002060"/>
          </a:solidFill>
          <a:ln w="12700">
            <a:noFill/>
            <a:prstDash val="solid"/>
          </a:ln>
        </p:spPr>
        <p:txBody>
          <a:bodyPr/>
          <a:lstStyle/>
          <a:p>
            <a:endParaRPr lang="en-US">
              <a:solidFill>
                <a:srgbClr val="1565C0"/>
              </a:solidFill>
            </a:endParaRPr>
          </a:p>
        </p:txBody>
      </p:sp>
      <p:pic>
        <p:nvPicPr>
          <p:cNvPr id="7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362456"/>
            <a:ext cx="320040" cy="320040"/>
          </a:xfrm>
          <a:prstGeom prst="rect">
            <a:avLst/>
          </a:prstGeom>
        </p:spPr>
      </p:pic>
      <p:sp>
        <p:nvSpPr>
          <p:cNvPr id="8" name="Header 8"/>
          <p:cNvSpPr/>
          <p:nvPr/>
        </p:nvSpPr>
        <p:spPr>
          <a:xfrm>
            <a:off x="850392" y="10515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</a:rPr>
              <a:t>NEO-6M GPS Module</a:t>
            </a:r>
          </a:p>
        </p:txBody>
      </p:sp>
      <p:sp>
        <p:nvSpPr>
          <p:cNvPr id="9" name="Body 9"/>
          <p:cNvSpPr/>
          <p:nvPr/>
        </p:nvSpPr>
        <p:spPr>
          <a:xfrm>
            <a:off x="850392" y="1362456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</a:rPr>
              <a:t>Retrieves live vehicle coordinates via UART  </a:t>
            </a:r>
          </a:p>
        </p:txBody>
      </p:sp>
      <p:sp>
        <p:nvSpPr>
          <p:cNvPr id="15" name="Shape 15"/>
          <p:cNvSpPr/>
          <p:nvPr/>
        </p:nvSpPr>
        <p:spPr>
          <a:xfrm>
            <a:off x="4663440" y="96012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Accent 16"/>
          <p:cNvSpPr/>
          <p:nvPr/>
        </p:nvSpPr>
        <p:spPr>
          <a:xfrm>
            <a:off x="4663440" y="960120"/>
            <a:ext cx="502920" cy="1170432"/>
          </a:xfrm>
          <a:prstGeom prst="rect">
            <a:avLst/>
          </a:prstGeom>
          <a:solidFill>
            <a:srgbClr val="002060"/>
          </a:solidFill>
          <a:ln w="12700">
            <a:noFill/>
            <a:prstDash val="solid"/>
          </a:ln>
        </p:spPr>
        <p:txBody>
          <a:bodyPr/>
          <a:lstStyle/>
          <a:p>
            <a:endParaRPr lang="en-US">
              <a:solidFill>
                <a:srgbClr val="1565C0"/>
              </a:solidFill>
            </a:endParaRPr>
          </a:p>
        </p:txBody>
      </p:sp>
      <p:pic>
        <p:nvPicPr>
          <p:cNvPr id="17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1362456"/>
            <a:ext cx="320040" cy="320040"/>
          </a:xfrm>
          <a:prstGeom prst="rect">
            <a:avLst/>
          </a:prstGeom>
        </p:spPr>
      </p:pic>
      <p:sp>
        <p:nvSpPr>
          <p:cNvPr id="18" name="Header 18"/>
          <p:cNvSpPr/>
          <p:nvPr/>
        </p:nvSpPr>
        <p:spPr>
          <a:xfrm>
            <a:off x="5257800" y="10515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</a:rPr>
              <a:t>SIM800L GSM Module</a:t>
            </a:r>
          </a:p>
        </p:txBody>
      </p:sp>
      <p:sp>
        <p:nvSpPr>
          <p:cNvPr id="19" name="Body 19"/>
          <p:cNvSpPr/>
          <p:nvPr/>
        </p:nvSpPr>
        <p:spPr>
          <a:xfrm>
            <a:off x="5257800" y="1362456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</a:rPr>
              <a:t>Sends real-time SMS alerts directly to the owner's phone via UART  fully offline, no Wi-Fi required</a:t>
            </a:r>
          </a:p>
        </p:txBody>
      </p:sp>
      <p:sp>
        <p:nvSpPr>
          <p:cNvPr id="25" name="Shape 25"/>
          <p:cNvSpPr/>
          <p:nvPr/>
        </p:nvSpPr>
        <p:spPr>
          <a:xfrm>
            <a:off x="256032" y="228600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Accent 26"/>
          <p:cNvSpPr/>
          <p:nvPr/>
        </p:nvSpPr>
        <p:spPr>
          <a:xfrm>
            <a:off x="256032" y="2286000"/>
            <a:ext cx="502920" cy="1170432"/>
          </a:xfrm>
          <a:prstGeom prst="rect">
            <a:avLst/>
          </a:prstGeom>
          <a:solidFill>
            <a:srgbClr val="002060"/>
          </a:solidFill>
          <a:ln w="12700">
            <a:noFill/>
            <a:prstDash val="solid"/>
          </a:ln>
        </p:spPr>
        <p:txBody>
          <a:bodyPr/>
          <a:lstStyle/>
          <a:p>
            <a:endParaRPr lang="en-US">
              <a:solidFill>
                <a:srgbClr val="1565C0"/>
              </a:solidFill>
            </a:endParaRPr>
          </a:p>
        </p:txBody>
      </p:sp>
      <p:pic>
        <p:nvPicPr>
          <p:cNvPr id="27" name="Image 2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" y="2688336"/>
            <a:ext cx="320040" cy="320040"/>
          </a:xfrm>
          <a:prstGeom prst="rect">
            <a:avLst/>
          </a:prstGeom>
        </p:spPr>
      </p:pic>
      <p:sp>
        <p:nvSpPr>
          <p:cNvPr id="28" name="Header 28"/>
          <p:cNvSpPr/>
          <p:nvPr/>
        </p:nvSpPr>
        <p:spPr>
          <a:xfrm>
            <a:off x="850392" y="23774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</a:rPr>
              <a:t>ESP32 Web Interface</a:t>
            </a:r>
          </a:p>
        </p:txBody>
      </p:sp>
      <p:sp>
        <p:nvSpPr>
          <p:cNvPr id="29" name="Body 29"/>
          <p:cNvSpPr/>
          <p:nvPr/>
        </p:nvSpPr>
        <p:spPr>
          <a:xfrm>
            <a:off x="850392" y="2688336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</a:rPr>
              <a:t>Hosts an HTML dashboard accessible from any device via a public URL for remote arm/disarm and GPS viewing</a:t>
            </a:r>
          </a:p>
        </p:txBody>
      </p:sp>
      <p:sp>
        <p:nvSpPr>
          <p:cNvPr id="35" name="Shape 35"/>
          <p:cNvSpPr/>
          <p:nvPr/>
        </p:nvSpPr>
        <p:spPr>
          <a:xfrm>
            <a:off x="4663440" y="228600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Accent 36"/>
          <p:cNvSpPr/>
          <p:nvPr/>
        </p:nvSpPr>
        <p:spPr>
          <a:xfrm>
            <a:off x="4663440" y="2286000"/>
            <a:ext cx="502920" cy="1170432"/>
          </a:xfrm>
          <a:prstGeom prst="rect">
            <a:avLst/>
          </a:prstGeom>
          <a:solidFill>
            <a:srgbClr val="002060"/>
          </a:solidFill>
          <a:ln w="12700">
            <a:noFill/>
            <a:prstDash val="solid"/>
          </a:ln>
        </p:spPr>
        <p:txBody>
          <a:bodyPr/>
          <a:lstStyle/>
          <a:p>
            <a:endParaRPr lang="en-US">
              <a:solidFill>
                <a:srgbClr val="1565C0"/>
              </a:solidFill>
            </a:endParaRPr>
          </a:p>
        </p:txBody>
      </p:sp>
      <p:pic>
        <p:nvPicPr>
          <p:cNvPr id="37" name="Image 3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5736" y="2688336"/>
            <a:ext cx="320040" cy="320040"/>
          </a:xfrm>
          <a:prstGeom prst="rect">
            <a:avLst/>
          </a:prstGeom>
        </p:spPr>
      </p:pic>
      <p:sp>
        <p:nvSpPr>
          <p:cNvPr id="38" name="Header 38"/>
          <p:cNvSpPr/>
          <p:nvPr/>
        </p:nvSpPr>
        <p:spPr>
          <a:xfrm>
            <a:off x="5257800" y="23774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</a:rPr>
              <a:t>Dual-Channel Design</a:t>
            </a:r>
          </a:p>
        </p:txBody>
      </p:sp>
      <p:sp>
        <p:nvSpPr>
          <p:cNvPr id="39" name="Body 39"/>
          <p:cNvSpPr/>
          <p:nvPr/>
        </p:nvSpPr>
        <p:spPr>
          <a:xfrm>
            <a:off x="5257800" y="2688336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</a:rPr>
              <a:t>GSM handles offline emergencies; ESP32 handles remote monitoring  two independent channels for maximum reliability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&amp; Results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03920" cy="457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7899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1078992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RFID-based access control: 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authorized/unauthorized detection working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74320" y="1527048"/>
            <a:ext cx="8503920" cy="4572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1848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" y="1618488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 multi-task architecture: 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 run concurrently without blocking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274320" y="2066544"/>
            <a:ext cx="8503920" cy="457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157984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9808" y="2157984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GPS coordinates: 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and forwarded via to owner phone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274320" y="2606040"/>
            <a:ext cx="8503920" cy="4572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697480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49808" y="2697480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&amp; reed switch: 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alarms triggering correctly with &lt;200ms response time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274320" y="3145536"/>
            <a:ext cx="8503920" cy="457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236976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49808" y="3236976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web dashboard: 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public URL — arm/disarm &amp; GPS view from any device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274320" y="3685032"/>
            <a:ext cx="8503920" cy="4572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776472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49808" y="3776472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LCD: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debug display correctly reflecting all system state transitions</a:t>
            </a:r>
            <a:endParaRPr lang="en-US" sz="1150" dirty="0"/>
          </a:p>
        </p:txBody>
      </p:sp>
      <p:sp>
        <p:nvSpPr>
          <p:cNvPr id="23" name="Shape 15"/>
          <p:cNvSpPr/>
          <p:nvPr/>
        </p:nvSpPr>
        <p:spPr>
          <a:xfrm>
            <a:off x="274320" y="4224528"/>
            <a:ext cx="8503920" cy="457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315968"/>
            <a:ext cx="256032" cy="25603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49808" y="4315968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integration test: 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breach → alarm → SMS alert → remote disarm cycle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BBC4DA-516D-EA21-8D3C-ECF6E21378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208" b="8538"/>
          <a:stretch>
            <a:fillRect/>
          </a:stretch>
        </p:blipFill>
        <p:spPr>
          <a:xfrm>
            <a:off x="20" y="-20141"/>
            <a:ext cx="9143980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086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2027</Words>
  <Application>Microsoft Office PowerPoint</Application>
  <PresentationFormat>On-screen Show (16:9)</PresentationFormat>
  <Paragraphs>218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 Anti-Theft System</dc:title>
  <dc:subject>PptxGenJS Presentation</dc:subject>
  <dc:creator>PptxGenJS</dc:creator>
  <cp:lastModifiedBy>Hania Abdelmeguid</cp:lastModifiedBy>
  <cp:revision>3</cp:revision>
  <dcterms:created xsi:type="dcterms:W3CDTF">2026-06-03T02:23:44Z</dcterms:created>
  <dcterms:modified xsi:type="dcterms:W3CDTF">2026-06-03T10:51:03Z</dcterms:modified>
</cp:coreProperties>
</file>